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00" d="100"/>
          <a:sy n="100" d="100"/>
        </p:scale>
        <p:origin x="300" y="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47759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58704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57188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71198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73957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36397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19625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4579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77022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47104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672027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369513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7450723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328875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142150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34900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11/3/2025</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9246410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9FE08D8-CEA0-461E-870A-02CD15D9B9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04431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44919" y="3101093"/>
            <a:ext cx="1840539" cy="3029344"/>
          </a:xfrm>
        </p:spPr>
        <p:txBody>
          <a:bodyPr>
            <a:normAutofit/>
          </a:bodyPr>
          <a:lstStyle/>
          <a:p>
            <a:pPr>
              <a:lnSpc>
                <a:spcPct val="90000"/>
              </a:lnSpc>
            </a:pPr>
            <a:r>
              <a:rPr lang="en-US" sz="2200">
                <a:solidFill>
                  <a:schemeClr val="bg1"/>
                </a:solidFill>
              </a:rPr>
              <a:t>The People Perspective</a:t>
            </a:r>
          </a:p>
          <a:p>
            <a:pPr>
              <a:lnSpc>
                <a:spcPct val="90000"/>
              </a:lnSpc>
            </a:pPr>
            <a:r>
              <a:rPr lang="en-US" sz="2200">
                <a:solidFill>
                  <a:schemeClr val="bg1"/>
                </a:solidFill>
              </a:rPr>
              <a:t>Week 12: Bringing It All Together</a:t>
            </a:r>
          </a:p>
        </p:txBody>
      </p:sp>
      <p:sp>
        <p:nvSpPr>
          <p:cNvPr id="10" name="Freeform 11">
            <a:extLst>
              <a:ext uri="{FF2B5EF4-FFF2-40B4-BE49-F238E27FC236}">
                <a16:creationId xmlns:a16="http://schemas.microsoft.com/office/drawing/2014/main" id="{2B982904-A46E-41DF-BA98-61E2300C7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19" y="3179901"/>
            <a:ext cx="823645"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lstStyle/>
          <a:p>
            <a:endParaRPr lang="en-GB"/>
          </a:p>
        </p:txBody>
      </p:sp>
      <p:sp useBgFill="1">
        <p:nvSpPr>
          <p:cNvPr id="12" name="Rectangle 11">
            <a:extLst>
              <a:ext uri="{FF2B5EF4-FFF2-40B4-BE49-F238E27FC236}">
                <a16:creationId xmlns:a16="http://schemas.microsoft.com/office/drawing/2014/main" id="{27018161-547E-48F7-A0D9-272C9EA5B3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96802" y="0"/>
            <a:ext cx="55471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529933" y="589722"/>
            <a:ext cx="5098525" cy="5321500"/>
          </a:xfrm>
        </p:spPr>
        <p:txBody>
          <a:bodyPr anchor="ctr">
            <a:normAutofit/>
          </a:bodyPr>
          <a:lstStyle/>
          <a:p>
            <a:r>
              <a:t>Module Code: 2093 | Level 4 | 20 Credits</a:t>
            </a:r>
          </a:p>
          <a:p>
            <a:r>
              <a:t>Programmes: BA &amp; FdA Business, Marketing &amp; Enterprise</a:t>
            </a:r>
          </a:p>
          <a:p>
            <a:r>
              <a:t>Theme: Leadership • Diversity • Communication • Innovation</a:t>
            </a:r>
          </a:p>
          <a:p>
            <a:endParaRPr/>
          </a:p>
          <a:p>
            <a:r>
              <a:t>“Working with people is both an art and a skill — this module helps you master both.”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A44C337-3893-4B29-A265-B1329150B6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15" y="-1"/>
            <a:ext cx="915543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1" name="Group 10">
            <a:extLst>
              <a:ext uri="{FF2B5EF4-FFF2-40B4-BE49-F238E27FC236}">
                <a16:creationId xmlns:a16="http://schemas.microsoft.com/office/drawing/2014/main" id="{81E0B358-1267-4844-8B3D-B7A279B4175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627110" y="228600"/>
            <a:ext cx="2138628" cy="6638625"/>
            <a:chOff x="2487613" y="285750"/>
            <a:chExt cx="2428875" cy="5654676"/>
          </a:xfrm>
        </p:grpSpPr>
        <p:sp>
          <p:nvSpPr>
            <p:cNvPr id="12" name="Freeform 11">
              <a:extLst>
                <a:ext uri="{FF2B5EF4-FFF2-40B4-BE49-F238E27FC236}">
                  <a16:creationId xmlns:a16="http://schemas.microsoft.com/office/drawing/2014/main" id="{B24AA06A-F1A5-4BB3-9486-9AE7A53B3F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GB"/>
            </a:p>
          </p:txBody>
        </p:sp>
        <p:sp>
          <p:nvSpPr>
            <p:cNvPr id="13" name="Freeform 12">
              <a:extLst>
                <a:ext uri="{FF2B5EF4-FFF2-40B4-BE49-F238E27FC236}">
                  <a16:creationId xmlns:a16="http://schemas.microsoft.com/office/drawing/2014/main" id="{BDF97590-C600-44CB-9303-4A3679F516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GB"/>
            </a:p>
          </p:txBody>
        </p:sp>
        <p:sp>
          <p:nvSpPr>
            <p:cNvPr id="14" name="Freeform 13">
              <a:extLst>
                <a:ext uri="{FF2B5EF4-FFF2-40B4-BE49-F238E27FC236}">
                  <a16:creationId xmlns:a16="http://schemas.microsoft.com/office/drawing/2014/main" id="{A9BBE156-3FFA-4DC4-8468-35BD28DDC6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GB"/>
            </a:p>
          </p:txBody>
        </p:sp>
        <p:sp>
          <p:nvSpPr>
            <p:cNvPr id="15" name="Freeform 14">
              <a:extLst>
                <a:ext uri="{FF2B5EF4-FFF2-40B4-BE49-F238E27FC236}">
                  <a16:creationId xmlns:a16="http://schemas.microsoft.com/office/drawing/2014/main" id="{F7960DE5-3810-4B1E-B1E2-3BAFEA91E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GB"/>
            </a:p>
          </p:txBody>
        </p:sp>
        <p:sp>
          <p:nvSpPr>
            <p:cNvPr id="16" name="Freeform 15">
              <a:extLst>
                <a:ext uri="{FF2B5EF4-FFF2-40B4-BE49-F238E27FC236}">
                  <a16:creationId xmlns:a16="http://schemas.microsoft.com/office/drawing/2014/main" id="{359E957C-CE11-446F-8AA7-B3E98390B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GB"/>
            </a:p>
          </p:txBody>
        </p:sp>
        <p:sp>
          <p:nvSpPr>
            <p:cNvPr id="17" name="Freeform 16">
              <a:extLst>
                <a:ext uri="{FF2B5EF4-FFF2-40B4-BE49-F238E27FC236}">
                  <a16:creationId xmlns:a16="http://schemas.microsoft.com/office/drawing/2014/main" id="{A3E9FE34-CA9E-4443-BEBF-D1B9A1C6C2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GB"/>
            </a:p>
          </p:txBody>
        </p:sp>
        <p:sp>
          <p:nvSpPr>
            <p:cNvPr id="18" name="Freeform 17">
              <a:extLst>
                <a:ext uri="{FF2B5EF4-FFF2-40B4-BE49-F238E27FC236}">
                  <a16:creationId xmlns:a16="http://schemas.microsoft.com/office/drawing/2014/main" id="{4F39D814-8A48-4509-BDEB-826F106591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GB"/>
            </a:p>
          </p:txBody>
        </p:sp>
        <p:sp>
          <p:nvSpPr>
            <p:cNvPr id="19" name="Freeform 18">
              <a:extLst>
                <a:ext uri="{FF2B5EF4-FFF2-40B4-BE49-F238E27FC236}">
                  <a16:creationId xmlns:a16="http://schemas.microsoft.com/office/drawing/2014/main" id="{8C6D08C0-8C49-4B87-9CF4-A1F08714FA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GB"/>
            </a:p>
          </p:txBody>
        </p:sp>
        <p:sp>
          <p:nvSpPr>
            <p:cNvPr id="20" name="Freeform 19">
              <a:extLst>
                <a:ext uri="{FF2B5EF4-FFF2-40B4-BE49-F238E27FC236}">
                  <a16:creationId xmlns:a16="http://schemas.microsoft.com/office/drawing/2014/main" id="{308C612B-4C0D-4863-B9CD-F86ABAA1B2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GB"/>
            </a:p>
          </p:txBody>
        </p:sp>
        <p:sp>
          <p:nvSpPr>
            <p:cNvPr id="21" name="Freeform 20">
              <a:extLst>
                <a:ext uri="{FF2B5EF4-FFF2-40B4-BE49-F238E27FC236}">
                  <a16:creationId xmlns:a16="http://schemas.microsoft.com/office/drawing/2014/main" id="{600B1EC8-1B55-4390-A183-C33B5E2273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GB"/>
            </a:p>
          </p:txBody>
        </p:sp>
        <p:sp>
          <p:nvSpPr>
            <p:cNvPr id="22" name="Freeform 21">
              <a:extLst>
                <a:ext uri="{FF2B5EF4-FFF2-40B4-BE49-F238E27FC236}">
                  <a16:creationId xmlns:a16="http://schemas.microsoft.com/office/drawing/2014/main" id="{1790A225-91E1-4BE5-A801-5F1E32721C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GB"/>
            </a:p>
          </p:txBody>
        </p:sp>
        <p:sp>
          <p:nvSpPr>
            <p:cNvPr id="23" name="Freeform 22">
              <a:extLst>
                <a:ext uri="{FF2B5EF4-FFF2-40B4-BE49-F238E27FC236}">
                  <a16:creationId xmlns:a16="http://schemas.microsoft.com/office/drawing/2014/main" id="{DFFC46A2-6BBF-47FD-BC17-5EE1DF7CB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GB"/>
            </a:p>
          </p:txBody>
        </p:sp>
      </p:grpSp>
      <p:grpSp>
        <p:nvGrpSpPr>
          <p:cNvPr id="25" name="Group 24">
            <a:extLst>
              <a:ext uri="{FF2B5EF4-FFF2-40B4-BE49-F238E27FC236}">
                <a16:creationId xmlns:a16="http://schemas.microsoft.com/office/drawing/2014/main" id="{AF44CA9C-80E8-44E1-A79C-D6EBFC73BC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507832" y="-786"/>
            <a:ext cx="1767505" cy="6854040"/>
            <a:chOff x="6627813" y="194833"/>
            <a:chExt cx="1952625" cy="5678918"/>
          </a:xfrm>
        </p:grpSpPr>
        <p:sp>
          <p:nvSpPr>
            <p:cNvPr id="26" name="Freeform 27">
              <a:extLst>
                <a:ext uri="{FF2B5EF4-FFF2-40B4-BE49-F238E27FC236}">
                  <a16:creationId xmlns:a16="http://schemas.microsoft.com/office/drawing/2014/main" id="{8CB9417F-98D9-4998-B00B-A5932E4C7D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GB"/>
            </a:p>
          </p:txBody>
        </p:sp>
        <p:sp>
          <p:nvSpPr>
            <p:cNvPr id="27" name="Freeform 28">
              <a:extLst>
                <a:ext uri="{FF2B5EF4-FFF2-40B4-BE49-F238E27FC236}">
                  <a16:creationId xmlns:a16="http://schemas.microsoft.com/office/drawing/2014/main" id="{FA79AA3D-583E-4A1E-AF7E-CBD980F596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GB"/>
            </a:p>
          </p:txBody>
        </p:sp>
        <p:sp>
          <p:nvSpPr>
            <p:cNvPr id="28" name="Freeform 29">
              <a:extLst>
                <a:ext uri="{FF2B5EF4-FFF2-40B4-BE49-F238E27FC236}">
                  <a16:creationId xmlns:a16="http://schemas.microsoft.com/office/drawing/2014/main" id="{D80C9F17-A6B2-4A12-BC77-F84264A669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GB"/>
            </a:p>
          </p:txBody>
        </p:sp>
        <p:sp>
          <p:nvSpPr>
            <p:cNvPr id="29" name="Freeform 30">
              <a:extLst>
                <a:ext uri="{FF2B5EF4-FFF2-40B4-BE49-F238E27FC236}">
                  <a16:creationId xmlns:a16="http://schemas.microsoft.com/office/drawing/2014/main" id="{949C9A53-ED97-44CE-BDD5-ED24892116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GB"/>
            </a:p>
          </p:txBody>
        </p:sp>
        <p:sp>
          <p:nvSpPr>
            <p:cNvPr id="30" name="Freeform 31">
              <a:extLst>
                <a:ext uri="{FF2B5EF4-FFF2-40B4-BE49-F238E27FC236}">
                  <a16:creationId xmlns:a16="http://schemas.microsoft.com/office/drawing/2014/main" id="{0F9FDAE7-225B-4072-8907-6EAA06174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GB"/>
            </a:p>
          </p:txBody>
        </p:sp>
        <p:sp>
          <p:nvSpPr>
            <p:cNvPr id="31" name="Freeform 32">
              <a:extLst>
                <a:ext uri="{FF2B5EF4-FFF2-40B4-BE49-F238E27FC236}">
                  <a16:creationId xmlns:a16="http://schemas.microsoft.com/office/drawing/2014/main" id="{9D49818B-8EA3-4B41-9783-EFE0C618C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GB"/>
            </a:p>
          </p:txBody>
        </p:sp>
        <p:sp>
          <p:nvSpPr>
            <p:cNvPr id="32" name="Freeform 33">
              <a:extLst>
                <a:ext uri="{FF2B5EF4-FFF2-40B4-BE49-F238E27FC236}">
                  <a16:creationId xmlns:a16="http://schemas.microsoft.com/office/drawing/2014/main" id="{01903E65-D822-4457-B0A5-2F41682241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GB"/>
            </a:p>
          </p:txBody>
        </p:sp>
        <p:sp>
          <p:nvSpPr>
            <p:cNvPr id="33" name="Freeform 34">
              <a:extLst>
                <a:ext uri="{FF2B5EF4-FFF2-40B4-BE49-F238E27FC236}">
                  <a16:creationId xmlns:a16="http://schemas.microsoft.com/office/drawing/2014/main" id="{A5CF9DAB-75BF-43D9-B1E7-817D1FAA00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GB"/>
            </a:p>
          </p:txBody>
        </p:sp>
        <p:sp>
          <p:nvSpPr>
            <p:cNvPr id="34" name="Freeform 35">
              <a:extLst>
                <a:ext uri="{FF2B5EF4-FFF2-40B4-BE49-F238E27FC236}">
                  <a16:creationId xmlns:a16="http://schemas.microsoft.com/office/drawing/2014/main" id="{BB22916D-4BCF-4A4C-8714-A2564D34C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GB"/>
            </a:p>
          </p:txBody>
        </p:sp>
        <p:sp>
          <p:nvSpPr>
            <p:cNvPr id="35" name="Freeform 36">
              <a:extLst>
                <a:ext uri="{FF2B5EF4-FFF2-40B4-BE49-F238E27FC236}">
                  <a16:creationId xmlns:a16="http://schemas.microsoft.com/office/drawing/2014/main" id="{4CD9F734-569E-44E7-BD53-6214E0F18C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GB"/>
            </a:p>
          </p:txBody>
        </p:sp>
        <p:sp>
          <p:nvSpPr>
            <p:cNvPr id="36" name="Freeform 37">
              <a:extLst>
                <a:ext uri="{FF2B5EF4-FFF2-40B4-BE49-F238E27FC236}">
                  <a16:creationId xmlns:a16="http://schemas.microsoft.com/office/drawing/2014/main" id="{7A5DAACB-2F42-40C8-BF6A-75B79299F9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GB"/>
            </a:p>
          </p:txBody>
        </p:sp>
        <p:sp>
          <p:nvSpPr>
            <p:cNvPr id="37" name="Freeform 38">
              <a:extLst>
                <a:ext uri="{FF2B5EF4-FFF2-40B4-BE49-F238E27FC236}">
                  <a16:creationId xmlns:a16="http://schemas.microsoft.com/office/drawing/2014/main" id="{AD78E0F9-8568-4672-A22F-4ED5B1A96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GB"/>
            </a:p>
          </p:txBody>
        </p:sp>
      </p:grpSp>
      <p:sp>
        <p:nvSpPr>
          <p:cNvPr id="2" name="Title 1"/>
          <p:cNvSpPr>
            <a:spLocks noGrp="1"/>
          </p:cNvSpPr>
          <p:nvPr>
            <p:ph type="title"/>
          </p:nvPr>
        </p:nvSpPr>
        <p:spPr>
          <a:xfrm>
            <a:off x="4862322" y="624110"/>
            <a:ext cx="3766137" cy="1280890"/>
          </a:xfrm>
        </p:spPr>
        <p:txBody>
          <a:bodyPr>
            <a:normAutofit/>
          </a:bodyPr>
          <a:lstStyle/>
          <a:p>
            <a:pPr>
              <a:lnSpc>
                <a:spcPct val="90000"/>
              </a:lnSpc>
            </a:pPr>
            <a:r>
              <a:rPr lang="en-US" sz="2800"/>
              <a:t>Welcome to Week 12 — The Final Session!</a:t>
            </a:r>
          </a:p>
        </p:txBody>
      </p:sp>
      <p:sp>
        <p:nvSpPr>
          <p:cNvPr id="39" name="Rectangle 38">
            <a:extLst>
              <a:ext uri="{FF2B5EF4-FFF2-40B4-BE49-F238E27FC236}">
                <a16:creationId xmlns:a16="http://schemas.microsoft.com/office/drawing/2014/main" id="{AA5CD610-ED7C-4CED-A9A1-174432C88A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4278"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1" name="Freeform 11">
            <a:extLst>
              <a:ext uri="{FF2B5EF4-FFF2-40B4-BE49-F238E27FC236}">
                <a16:creationId xmlns:a16="http://schemas.microsoft.com/office/drawing/2014/main" id="{0C4379BF-8C7A-480A-BC36-DA55D92A93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3484278" y="714375"/>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GB"/>
          </a:p>
        </p:txBody>
      </p:sp>
      <p:pic>
        <p:nvPicPr>
          <p:cNvPr id="5" name="Picture 4" descr="Multi-colored push pins connected by a black wire">
            <a:extLst>
              <a:ext uri="{FF2B5EF4-FFF2-40B4-BE49-F238E27FC236}">
                <a16:creationId xmlns:a16="http://schemas.microsoft.com/office/drawing/2014/main" id="{5AAFE1CE-40AA-F2CC-F02E-88786CE91B66}"/>
              </a:ext>
            </a:extLst>
          </p:cNvPr>
          <p:cNvPicPr>
            <a:picLocks noChangeAspect="1"/>
          </p:cNvPicPr>
          <p:nvPr/>
        </p:nvPicPr>
        <p:blipFill>
          <a:blip r:embed="rId2"/>
          <a:srcRect l="11855" r="54047" b="-2"/>
          <a:stretch>
            <a:fillRect/>
          </a:stretch>
        </p:blipFill>
        <p:spPr>
          <a:xfrm>
            <a:off x="-1166" y="1731"/>
            <a:ext cx="3503318" cy="6858000"/>
          </a:xfrm>
          <a:prstGeom prst="rect">
            <a:avLst/>
          </a:prstGeom>
        </p:spPr>
      </p:pic>
      <p:sp>
        <p:nvSpPr>
          <p:cNvPr id="3" name="Content Placeholder 2"/>
          <p:cNvSpPr>
            <a:spLocks noGrp="1"/>
          </p:cNvSpPr>
          <p:nvPr>
            <p:ph idx="1"/>
          </p:nvPr>
        </p:nvSpPr>
        <p:spPr>
          <a:xfrm>
            <a:off x="4828643" y="2133600"/>
            <a:ext cx="3799814" cy="3777622"/>
          </a:xfrm>
        </p:spPr>
        <p:txBody>
          <a:bodyPr>
            <a:normAutofit/>
          </a:bodyPr>
          <a:lstStyle/>
          <a:p>
            <a:pPr>
              <a:lnSpc>
                <a:spcPct val="90000"/>
              </a:lnSpc>
            </a:pPr>
            <a:r>
              <a:rPr lang="en-US" sz="1400"/>
              <a:t>By the end of today’s session, you’ll be able to:</a:t>
            </a:r>
          </a:p>
          <a:p>
            <a:pPr>
              <a:lnSpc>
                <a:spcPct val="90000"/>
              </a:lnSpc>
            </a:pPr>
            <a:r>
              <a:rPr lang="en-US" sz="1400"/>
              <a:t>- Review the main themes of the module</a:t>
            </a:r>
          </a:p>
          <a:p>
            <a:pPr>
              <a:lnSpc>
                <a:spcPct val="90000"/>
              </a:lnSpc>
            </a:pPr>
            <a:r>
              <a:rPr lang="en-US" sz="1400"/>
              <a:t>- Prepare confidently for the final exam</a:t>
            </a:r>
          </a:p>
          <a:p>
            <a:pPr>
              <a:lnSpc>
                <a:spcPct val="90000"/>
              </a:lnSpc>
            </a:pPr>
            <a:r>
              <a:rPr lang="en-US" sz="1400"/>
              <a:t>- Reflect on what you’ve learned about people, teams, and leadership</a:t>
            </a:r>
          </a:p>
          <a:p>
            <a:pPr>
              <a:lnSpc>
                <a:spcPct val="90000"/>
              </a:lnSpc>
            </a:pPr>
            <a:r>
              <a:rPr lang="en-US" sz="1400"/>
              <a:t>- Identify how these lessons apply to your own career</a:t>
            </a:r>
          </a:p>
          <a:p>
            <a:pPr>
              <a:lnSpc>
                <a:spcPct val="90000"/>
              </a:lnSpc>
            </a:pPr>
            <a:endParaRPr lang="en-US" sz="1400"/>
          </a:p>
          <a:p>
            <a:pPr>
              <a:lnSpc>
                <a:spcPct val="90000"/>
              </a:lnSpc>
            </a:pPr>
            <a:r>
              <a:rPr lang="en-US" sz="1400"/>
              <a:t>This week is about connecting the dots — seeing how all the topics fit together.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You’ve Learnt So Far</a:t>
            </a:r>
          </a:p>
        </p:txBody>
      </p:sp>
      <p:sp>
        <p:nvSpPr>
          <p:cNvPr id="3" name="Content Placeholder 2"/>
          <p:cNvSpPr>
            <a:spLocks noGrp="1"/>
          </p:cNvSpPr>
          <p:nvPr>
            <p:ph idx="1"/>
          </p:nvPr>
        </p:nvSpPr>
        <p:spPr/>
        <p:txBody>
          <a:bodyPr>
            <a:normAutofit fontScale="92500" lnSpcReduction="20000"/>
          </a:bodyPr>
          <a:lstStyle/>
          <a:p>
            <a:r>
              <a:t>- The People Perspective: Why understanding people matters for business success</a:t>
            </a:r>
          </a:p>
          <a:p>
            <a:r>
              <a:t>- Equality &amp; Diversity: How inclusion drives performance and fairness</a:t>
            </a:r>
          </a:p>
          <a:p>
            <a:r>
              <a:t>- Communication: Adapting your message across cultures, genders, and generations</a:t>
            </a:r>
          </a:p>
          <a:p>
            <a:r>
              <a:t>- Leadership: Recognising different styles and when to use them</a:t>
            </a:r>
          </a:p>
          <a:p>
            <a:r>
              <a:t>- Innovation through People: How diverse teams spark creativity</a:t>
            </a:r>
          </a:p>
          <a:p>
            <a:endParaRPr/>
          </a:p>
          <a:p>
            <a:r>
              <a:t>People aren’t just part of the business — they are the business.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Quick Knowledge Check (Pair Discussion)</a:t>
            </a:r>
          </a:p>
        </p:txBody>
      </p:sp>
      <p:sp>
        <p:nvSpPr>
          <p:cNvPr id="3" name="Content Placeholder 2"/>
          <p:cNvSpPr>
            <a:spLocks noGrp="1"/>
          </p:cNvSpPr>
          <p:nvPr>
            <p:ph idx="1"/>
          </p:nvPr>
        </p:nvSpPr>
        <p:spPr/>
        <p:txBody>
          <a:bodyPr/>
          <a:lstStyle/>
          <a:p>
            <a:r>
              <a:t>Turn to the person next to you and discuss:</a:t>
            </a:r>
          </a:p>
          <a:p>
            <a:r>
              <a:t>1. What’s one new thing you learned about leadership this term?</a:t>
            </a:r>
          </a:p>
          <a:p>
            <a:r>
              <a:t>2. What does diversity really mean in practice?</a:t>
            </a:r>
          </a:p>
          <a:p>
            <a:r>
              <a:t>3. How does communication help create inclusion?</a:t>
            </a:r>
          </a:p>
          <a:p>
            <a:endParaRPr/>
          </a:p>
          <a:p>
            <a:r>
              <a:t>Share one insight when we regroup — there are no right or wrong answers here.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Leadership in Real Life</a:t>
            </a:r>
          </a:p>
        </p:txBody>
      </p:sp>
      <p:sp>
        <p:nvSpPr>
          <p:cNvPr id="3" name="Content Placeholder 2"/>
          <p:cNvSpPr>
            <a:spLocks noGrp="1"/>
          </p:cNvSpPr>
          <p:nvPr>
            <p:ph idx="1"/>
          </p:nvPr>
        </p:nvSpPr>
        <p:spPr/>
        <p:txBody>
          <a:bodyPr/>
          <a:lstStyle/>
          <a:p>
            <a:r>
              <a:t>Think back to the 360° People Perspective scenarios:</a:t>
            </a:r>
          </a:p>
          <a:p>
            <a:r>
              <a:t>- What kind of leadership behaviours did you notice?</a:t>
            </a:r>
          </a:p>
          <a:p>
            <a:r>
              <a:t>- How did body language, tone, or reactions affect the outcome?</a:t>
            </a:r>
          </a:p>
          <a:p>
            <a:r>
              <a:t>- What could have been done differently?</a:t>
            </a:r>
          </a:p>
          <a:p>
            <a:endParaRPr/>
          </a:p>
          <a:p>
            <a:r>
              <a:t>Leadership isn’t about power — it’s about awareness and connection.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 Format &amp; Key Tips</a:t>
            </a:r>
          </a:p>
        </p:txBody>
      </p:sp>
      <p:sp>
        <p:nvSpPr>
          <p:cNvPr id="3" name="Content Placeholder 2"/>
          <p:cNvSpPr>
            <a:spLocks noGrp="1"/>
          </p:cNvSpPr>
          <p:nvPr>
            <p:ph idx="1"/>
          </p:nvPr>
        </p:nvSpPr>
        <p:spPr/>
        <p:txBody>
          <a:bodyPr>
            <a:normAutofit fontScale="62500" lnSpcReduction="20000"/>
          </a:bodyPr>
          <a:lstStyle/>
          <a:p>
            <a:r>
              <a:t>Your final exam (100%)</a:t>
            </a:r>
          </a:p>
          <a:p>
            <a:r>
              <a:t>- Duration: 1 hour 15 minutes</a:t>
            </a:r>
          </a:p>
          <a:p>
            <a:r>
              <a:t>- Format: Multiple choice + short answer questions</a:t>
            </a:r>
          </a:p>
          <a:p>
            <a:endParaRPr/>
          </a:p>
          <a:p>
            <a:r>
              <a:t>Assesses all three learning outcomes:</a:t>
            </a:r>
          </a:p>
          <a:p>
            <a:r>
              <a:t>1. Value of a diverse and inclusive workforce</a:t>
            </a:r>
          </a:p>
          <a:p>
            <a:r>
              <a:t>2. Equality, communication, and inclusion</a:t>
            </a:r>
          </a:p>
          <a:p>
            <a:r>
              <a:t>3. Leadership approaches within diverse teams</a:t>
            </a:r>
          </a:p>
          <a:p>
            <a:endParaRPr/>
          </a:p>
          <a:p>
            <a:r>
              <a:t>Tips:</a:t>
            </a:r>
          </a:p>
          <a:p>
            <a:r>
              <a:t>- Review slides and notes</a:t>
            </a:r>
          </a:p>
          <a:p>
            <a:r>
              <a:t>- Focus on examples (Google, Unilever, Tesco)</a:t>
            </a:r>
          </a:p>
          <a:p>
            <a:r>
              <a:t>- Be concise and clear</a:t>
            </a:r>
          </a:p>
          <a:p>
            <a:r>
              <a:t>- Read MCQs carefully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Short Answer Question</a:t>
            </a:r>
          </a:p>
        </p:txBody>
      </p:sp>
      <p:sp>
        <p:nvSpPr>
          <p:cNvPr id="3" name="Content Placeholder 2"/>
          <p:cNvSpPr>
            <a:spLocks noGrp="1"/>
          </p:cNvSpPr>
          <p:nvPr>
            <p:ph idx="1"/>
          </p:nvPr>
        </p:nvSpPr>
        <p:spPr/>
        <p:txBody>
          <a:bodyPr/>
          <a:lstStyle/>
          <a:p>
            <a:r>
              <a:t>Question: Why are diversity and inclusion essential for innovation?</a:t>
            </a:r>
          </a:p>
          <a:p>
            <a:endParaRPr/>
          </a:p>
          <a:p>
            <a:r>
              <a:t>Strong short answer example:</a:t>
            </a:r>
          </a:p>
          <a:p>
            <a:r>
              <a:t>“Diverse teams bring fresh ideas because people think differently. Inclusion ensures everyone feels safe to contribute. This mix of perspectives helps organisations create new products, solve problems faster, and connect with wider audiences.”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Practice Quiz (Class Activity)</a:t>
            </a:r>
          </a:p>
        </p:txBody>
      </p:sp>
      <p:sp>
        <p:nvSpPr>
          <p:cNvPr id="3" name="Content Placeholder 2"/>
          <p:cNvSpPr>
            <a:spLocks noGrp="1"/>
          </p:cNvSpPr>
          <p:nvPr>
            <p:ph idx="1"/>
          </p:nvPr>
        </p:nvSpPr>
        <p:spPr/>
        <p:txBody>
          <a:bodyPr>
            <a:normAutofit lnSpcReduction="10000"/>
          </a:bodyPr>
          <a:lstStyle/>
          <a:p>
            <a:r>
              <a:t>Test yourself:</a:t>
            </a:r>
          </a:p>
          <a:p>
            <a:r>
              <a:t>1. What law underpins equal opportunities in the UK?</a:t>
            </a:r>
          </a:p>
          <a:p>
            <a:r>
              <a:t>2. Give one example of inclusive digital communication.</a:t>
            </a:r>
          </a:p>
          <a:p>
            <a:r>
              <a:t>3. Which leadership style encourages collaboration?</a:t>
            </a:r>
          </a:p>
          <a:p>
            <a:r>
              <a:t>4. Why does innovation depend on diversity?</a:t>
            </a:r>
          </a:p>
          <a:p>
            <a:r>
              <a:t>5. One non-verbal way of showing respect in multicultural teams?</a:t>
            </a:r>
          </a:p>
          <a:p>
            <a:endParaRPr/>
          </a:p>
          <a:p>
            <a:r>
              <a:t>Discuss your answers — compare reasoning, not just results.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Reflection: Your People Perspective</a:t>
            </a:r>
          </a:p>
        </p:txBody>
      </p:sp>
      <p:sp>
        <p:nvSpPr>
          <p:cNvPr id="3" name="Content Placeholder 2"/>
          <p:cNvSpPr>
            <a:spLocks noGrp="1"/>
          </p:cNvSpPr>
          <p:nvPr>
            <p:ph idx="1"/>
          </p:nvPr>
        </p:nvSpPr>
        <p:spPr/>
        <p:txBody>
          <a:bodyPr/>
          <a:lstStyle/>
          <a:p>
            <a:r>
              <a:t>Think about your journey:</a:t>
            </a:r>
          </a:p>
          <a:p>
            <a:r>
              <a:t>- How has your view of teamwork changed?</a:t>
            </a:r>
          </a:p>
          <a:p>
            <a:r>
              <a:t>- What people skills have you improved?</a:t>
            </a:r>
          </a:p>
          <a:p>
            <a:r>
              <a:t>- What kind of leader do you want to become?</a:t>
            </a:r>
          </a:p>
          <a:p>
            <a:endParaRPr/>
          </a:p>
          <a:p>
            <a:r>
              <a:t>Write one short reflection:</a:t>
            </a:r>
          </a:p>
          <a:p>
            <a:r>
              <a:t>“The biggest thing I learned about people at work is…”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People Perspective in Action</a:t>
            </a:r>
          </a:p>
        </p:txBody>
      </p:sp>
      <p:sp>
        <p:nvSpPr>
          <p:cNvPr id="3" name="Content Placeholder 2"/>
          <p:cNvSpPr>
            <a:spLocks noGrp="1"/>
          </p:cNvSpPr>
          <p:nvPr>
            <p:ph idx="1"/>
          </p:nvPr>
        </p:nvSpPr>
        <p:spPr/>
        <p:txBody>
          <a:bodyPr/>
          <a:lstStyle/>
          <a:p>
            <a:r>
              <a:t>Real-world examples:</a:t>
            </a:r>
          </a:p>
          <a:p>
            <a:r>
              <a:t>- Google: Inclusion drives creative problem-solving</a:t>
            </a:r>
          </a:p>
          <a:p>
            <a:r>
              <a:t>- Unilever: Leadership built on empathy and purpose</a:t>
            </a:r>
          </a:p>
          <a:p>
            <a:r>
              <a:t>- Tesco: Flexible working and diversity networks boost engagement</a:t>
            </a:r>
          </a:p>
          <a:p>
            <a:endParaRPr/>
          </a:p>
          <a:p>
            <a:r>
              <a:t>When you invest in people, performance follows.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 &amp; Next Steps</a:t>
            </a:r>
          </a:p>
        </p:txBody>
      </p:sp>
      <p:sp>
        <p:nvSpPr>
          <p:cNvPr id="3" name="Content Placeholder 2"/>
          <p:cNvSpPr>
            <a:spLocks noGrp="1"/>
          </p:cNvSpPr>
          <p:nvPr>
            <p:ph idx="1"/>
          </p:nvPr>
        </p:nvSpPr>
        <p:spPr/>
        <p:txBody>
          <a:bodyPr>
            <a:normAutofit fontScale="85000" lnSpcReduction="20000"/>
          </a:bodyPr>
          <a:lstStyle/>
          <a:p>
            <a:r>
              <a:t>You’ve completed The People Perspective!</a:t>
            </a:r>
          </a:p>
          <a:p>
            <a:endParaRPr/>
          </a:p>
          <a:p>
            <a:r>
              <a:t>Before your exam:</a:t>
            </a:r>
          </a:p>
          <a:p>
            <a:r>
              <a:t>- Review slides and readings</a:t>
            </a:r>
          </a:p>
          <a:p>
            <a:r>
              <a:t>- Revisit 360° scenarios</a:t>
            </a:r>
          </a:p>
          <a:p>
            <a:r>
              <a:t>- Practise short answers</a:t>
            </a:r>
          </a:p>
          <a:p>
            <a:r>
              <a:t>- Rest well — memory needs downtime</a:t>
            </a:r>
          </a:p>
          <a:p>
            <a:endParaRPr/>
          </a:p>
          <a:p>
            <a:r>
              <a:t>“Great leaders aren’t born — they’re built through awareness, practice, and empathy.”</a:t>
            </a:r>
          </a:p>
          <a:p>
            <a:endParaRPr/>
          </a:p>
          <a:p>
            <a:r>
              <a:t>Good luck — you’ve got this!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Reflection Padlet (Optional)</a:t>
            </a:r>
          </a:p>
        </p:txBody>
      </p:sp>
      <p:sp>
        <p:nvSpPr>
          <p:cNvPr id="3" name="Content Placeholder 2"/>
          <p:cNvSpPr>
            <a:spLocks noGrp="1"/>
          </p:cNvSpPr>
          <p:nvPr>
            <p:ph idx="1"/>
          </p:nvPr>
        </p:nvSpPr>
        <p:spPr/>
        <p:txBody>
          <a:bodyPr/>
          <a:lstStyle/>
          <a:p>
            <a:r>
              <a:t>Before you go, post your final thought on Padlet:</a:t>
            </a:r>
          </a:p>
          <a:p>
            <a:r>
              <a:t>“One insight I’m taking away from this module is…”</a:t>
            </a:r>
          </a:p>
          <a:p>
            <a:endParaRPr/>
          </a:p>
          <a:p>
            <a:r>
              <a:t>Let’s capture what we’ve learned together — your reflection might inspire next year’s students.</a:t>
            </a:r>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4</TotalTime>
  <Words>742</Words>
  <Application>Microsoft Office PowerPoint</Application>
  <PresentationFormat>On-screen Show (4:3)</PresentationFormat>
  <Paragraphs>98</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Century Gothic</vt:lpstr>
      <vt:lpstr>Wingdings 3</vt:lpstr>
      <vt:lpstr>Wisp</vt:lpstr>
      <vt:lpstr>The People Perspective Week 12: Bringing It All Together</vt:lpstr>
      <vt:lpstr>Welcome to Week 12 — The Final Session!</vt:lpstr>
      <vt:lpstr>What You’ve Learnt So Far</vt:lpstr>
      <vt:lpstr>Quick Knowledge Check (Pair Discussion)</vt:lpstr>
      <vt:lpstr>Leadership in Real Life</vt:lpstr>
      <vt:lpstr>Exam Format &amp; Key Tips</vt:lpstr>
      <vt:lpstr>Example Short Answer Question</vt:lpstr>
      <vt:lpstr>Practice Quiz (Class Activity)</vt:lpstr>
      <vt:lpstr>Reflection: Your People Perspective</vt:lpstr>
      <vt:lpstr>The People Perspective in Action</vt:lpstr>
      <vt:lpstr>Thank You &amp; Next Steps</vt:lpstr>
      <vt:lpstr>Reflection Padlet (Optional)</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Vinay Reddy</dc:creator>
  <cp:keywords/>
  <dc:description>generated using python-pptx</dc:description>
  <cp:lastModifiedBy>Vinay Reddy</cp:lastModifiedBy>
  <cp:revision>3</cp:revision>
  <dcterms:created xsi:type="dcterms:W3CDTF">2013-01-27T09:14:16Z</dcterms:created>
  <dcterms:modified xsi:type="dcterms:W3CDTF">2025-11-03T16:18:58Z</dcterms:modified>
  <cp:category/>
</cp:coreProperties>
</file>